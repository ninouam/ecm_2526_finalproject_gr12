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Poppins Light" charset="1" panose="00000400000000000000"/>
      <p:regular r:id="rId25"/>
    </p:embeddedFont>
    <p:embeddedFont>
      <p:font typeface="Poppins" charset="1" panose="00000500000000000000"/>
      <p:regular r:id="rId26"/>
    </p:embeddedFont>
    <p:embeddedFont>
      <p:font typeface="Poppins Bold" charset="1" panose="00000800000000000000"/>
      <p:regular r:id="rId27"/>
    </p:embeddedFont>
    <p:embeddedFont>
      <p:font typeface="Poppins Italics" charset="1" panose="000005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2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28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12" Target="../media/image34.png" Type="http://schemas.openxmlformats.org/officeDocument/2006/relationships/image"/><Relationship Id="rId13" Target="../media/image35.svg" Type="http://schemas.openxmlformats.org/officeDocument/2006/relationships/image"/><Relationship Id="rId14" Target="../media/image36.png" Type="http://schemas.openxmlformats.org/officeDocument/2006/relationships/image"/><Relationship Id="rId15" Target="../media/image37.svg" Type="http://schemas.openxmlformats.org/officeDocument/2006/relationships/image"/><Relationship Id="rId16" Target="../media/image38.png" Type="http://schemas.openxmlformats.org/officeDocument/2006/relationships/image"/><Relationship Id="rId17" Target="../media/image3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04485" y="3303158"/>
            <a:ext cx="12587979" cy="22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11"/>
              </a:lnSpc>
            </a:pPr>
            <a:r>
              <a:rPr lang="en-US" sz="18062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Projet Data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8891968"/>
            <a:ext cx="4572401" cy="694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Hajar BELGROUN, Mailis BRIENS, Audrey NOURRY, Nino TISSOT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614052" y="42360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3" y="0"/>
                </a:lnTo>
                <a:lnTo>
                  <a:pt x="7417733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521913" y="2869268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823847"/>
            <a:ext cx="660985" cy="462690"/>
          </a:xfrm>
          <a:custGeom>
            <a:avLst/>
            <a:gdLst/>
            <a:ahLst/>
            <a:cxnLst/>
            <a:rect r="r" b="b" t="t" l="l"/>
            <a:pathLst>
              <a:path h="462690" w="660985">
                <a:moveTo>
                  <a:pt x="0" y="0"/>
                </a:moveTo>
                <a:lnTo>
                  <a:pt x="660985" y="0"/>
                </a:lnTo>
                <a:lnTo>
                  <a:pt x="660985" y="462690"/>
                </a:lnTo>
                <a:lnTo>
                  <a:pt x="0" y="462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228886" y="6172200"/>
            <a:ext cx="2059114" cy="4114800"/>
          </a:xfrm>
          <a:custGeom>
            <a:avLst/>
            <a:gdLst/>
            <a:ahLst/>
            <a:cxnLst/>
            <a:rect r="r" b="b" t="t" l="l"/>
            <a:pathLst>
              <a:path h="4114800" w="2059114">
                <a:moveTo>
                  <a:pt x="0" y="0"/>
                </a:moveTo>
                <a:lnTo>
                  <a:pt x="2059114" y="0"/>
                </a:lnTo>
                <a:lnTo>
                  <a:pt x="20591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789139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Analyse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22303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55467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Contexte</a:t>
            </a:r>
          </a:p>
        </p:txBody>
      </p:sp>
      <p:sp>
        <p:nvSpPr>
          <p:cNvPr name="AutoShape 11" id="11"/>
          <p:cNvSpPr/>
          <p:nvPr/>
        </p:nvSpPr>
        <p:spPr>
          <a:xfrm>
            <a:off x="10206525" y="1305587"/>
            <a:ext cx="968045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58670" y="873455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3"/>
                </a:lnTo>
                <a:lnTo>
                  <a:pt x="0" y="7417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95828" y="1955873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9845151" y="1255979"/>
            <a:ext cx="1690792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2593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9258300"/>
            <a:ext cx="2378369" cy="2378369"/>
          </a:xfrm>
          <a:custGeom>
            <a:avLst/>
            <a:gdLst/>
            <a:ahLst/>
            <a:cxnLst/>
            <a:rect r="r" b="b" t="t" l="l"/>
            <a:pathLst>
              <a:path h="2378369" w="2378369">
                <a:moveTo>
                  <a:pt x="0" y="0"/>
                </a:moveTo>
                <a:lnTo>
                  <a:pt x="2378369" y="0"/>
                </a:lnTo>
                <a:lnTo>
                  <a:pt x="2378369" y="2378369"/>
                </a:lnTo>
                <a:lnTo>
                  <a:pt x="0" y="23783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226408" y="4305925"/>
            <a:ext cx="7835184" cy="189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6"/>
              </a:lnSpc>
            </a:pPr>
            <a:r>
              <a:rPr lang="en-US" sz="82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Contexte et Problématique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789139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Analyse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22303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55467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Contexte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15937" y="1255979"/>
            <a:ext cx="949220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05934" y="1840568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027843" y="8229600"/>
            <a:ext cx="2059114" cy="4114800"/>
          </a:xfrm>
          <a:custGeom>
            <a:avLst/>
            <a:gdLst/>
            <a:ahLst/>
            <a:cxnLst/>
            <a:rect r="r" b="b" t="t" l="l"/>
            <a:pathLst>
              <a:path h="4114800" w="2059114">
                <a:moveTo>
                  <a:pt x="0" y="0"/>
                </a:moveTo>
                <a:lnTo>
                  <a:pt x="2059114" y="0"/>
                </a:lnTo>
                <a:lnTo>
                  <a:pt x="20591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7259300" y="-1189185"/>
            <a:ext cx="2378369" cy="2378369"/>
          </a:xfrm>
          <a:custGeom>
            <a:avLst/>
            <a:gdLst/>
            <a:ahLst/>
            <a:cxnLst/>
            <a:rect r="r" b="b" t="t" l="l"/>
            <a:pathLst>
              <a:path h="2378369" w="2378369">
                <a:moveTo>
                  <a:pt x="0" y="0"/>
                </a:moveTo>
                <a:lnTo>
                  <a:pt x="2378369" y="0"/>
                </a:lnTo>
                <a:lnTo>
                  <a:pt x="2378369" y="2378370"/>
                </a:lnTo>
                <a:lnTo>
                  <a:pt x="0" y="23783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376750" y="6368392"/>
            <a:ext cx="9097755" cy="261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</a:p>
          <a:p>
            <a:pPr algn="l">
              <a:lnSpc>
                <a:spcPts val="2620"/>
              </a:lnSpc>
            </a:pPr>
            <a:r>
              <a:rPr lang="en-US" sz="20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Gestion d’investissement dans une startup pharmaceutique</a:t>
            </a:r>
          </a:p>
          <a:p>
            <a:pPr algn="l">
              <a:lnSpc>
                <a:spcPts val="2620"/>
              </a:lnSpc>
            </a:pPr>
            <a:r>
              <a:rPr lang="en-US" sz="20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Risques impliqués (temps de développement, réglementation...)</a:t>
            </a:r>
          </a:p>
          <a:p>
            <a:pPr algn="l">
              <a:lnSpc>
                <a:spcPts val="2620"/>
              </a:lnSpc>
            </a:pPr>
          </a:p>
          <a:p>
            <a:pPr algn="l">
              <a:lnSpc>
                <a:spcPts val="2620"/>
              </a:lnSpc>
            </a:pPr>
            <a:r>
              <a:rPr lang="en-US" sz="20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Aspect éthique important surtout dans le contexte actuel</a:t>
            </a:r>
          </a:p>
          <a:p>
            <a:pPr algn="l">
              <a:lnSpc>
                <a:spcPts val="2620"/>
              </a:lnSpc>
            </a:pPr>
          </a:p>
          <a:p>
            <a:pPr algn="l">
              <a:lnSpc>
                <a:spcPts val="2620"/>
              </a:lnSpc>
            </a:pPr>
            <a:r>
              <a:rPr lang="en-US" sz="20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Forte concentration des startups aux USA</a:t>
            </a:r>
          </a:p>
          <a:p>
            <a:pPr algn="l">
              <a:lnSpc>
                <a:spcPts val="2620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664024" y="6107393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789139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Analyse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22303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55467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Contexte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5934" y="1767104"/>
            <a:ext cx="10862746" cy="1807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8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Les startups pharmaceutiques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05934" y="4324411"/>
            <a:ext cx="6129855" cy="4183212"/>
          </a:xfrm>
          <a:custGeom>
            <a:avLst/>
            <a:gdLst/>
            <a:ahLst/>
            <a:cxnLst/>
            <a:rect r="r" b="b" t="t" l="l"/>
            <a:pathLst>
              <a:path h="4183212" w="6129855">
                <a:moveTo>
                  <a:pt x="0" y="0"/>
                </a:moveTo>
                <a:lnTo>
                  <a:pt x="6129855" y="0"/>
                </a:lnTo>
                <a:lnTo>
                  <a:pt x="6129855" y="4183212"/>
                </a:lnTo>
                <a:lnTo>
                  <a:pt x="0" y="41832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466184" y="1840568"/>
            <a:ext cx="5906706" cy="4127815"/>
          </a:xfrm>
          <a:custGeom>
            <a:avLst/>
            <a:gdLst/>
            <a:ahLst/>
            <a:cxnLst/>
            <a:rect r="r" b="b" t="t" l="l"/>
            <a:pathLst>
              <a:path h="4127815" w="5906706">
                <a:moveTo>
                  <a:pt x="0" y="0"/>
                </a:moveTo>
                <a:lnTo>
                  <a:pt x="5906706" y="0"/>
                </a:lnTo>
                <a:lnTo>
                  <a:pt x="5906706" y="4127814"/>
                </a:lnTo>
                <a:lnTo>
                  <a:pt x="0" y="41278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15937" y="1255979"/>
            <a:ext cx="949220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05934" y="1840568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027843" y="8229600"/>
            <a:ext cx="2059114" cy="4114800"/>
          </a:xfrm>
          <a:custGeom>
            <a:avLst/>
            <a:gdLst/>
            <a:ahLst/>
            <a:cxnLst/>
            <a:rect r="r" b="b" t="t" l="l"/>
            <a:pathLst>
              <a:path h="4114800" w="2059114">
                <a:moveTo>
                  <a:pt x="0" y="0"/>
                </a:moveTo>
                <a:lnTo>
                  <a:pt x="2059114" y="0"/>
                </a:lnTo>
                <a:lnTo>
                  <a:pt x="20591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7259300" y="-1189185"/>
            <a:ext cx="2378369" cy="2378369"/>
          </a:xfrm>
          <a:custGeom>
            <a:avLst/>
            <a:gdLst/>
            <a:ahLst/>
            <a:cxnLst/>
            <a:rect r="r" b="b" t="t" l="l"/>
            <a:pathLst>
              <a:path h="2378369" w="2378369">
                <a:moveTo>
                  <a:pt x="0" y="0"/>
                </a:moveTo>
                <a:lnTo>
                  <a:pt x="2378369" y="0"/>
                </a:lnTo>
                <a:lnTo>
                  <a:pt x="2378369" y="2378370"/>
                </a:lnTo>
                <a:lnTo>
                  <a:pt x="0" y="23783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664024" y="6107393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789139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Analyse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22303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Code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55467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Contexte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5934" y="1767104"/>
            <a:ext cx="10862746" cy="98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8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Notre projet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506675" y="3415800"/>
            <a:ext cx="13274649" cy="2031615"/>
            <a:chOff x="0" y="0"/>
            <a:chExt cx="2071825" cy="3170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1825" cy="317082"/>
            </a:xfrm>
            <a:custGeom>
              <a:avLst/>
              <a:gdLst/>
              <a:ahLst/>
              <a:cxnLst/>
              <a:rect r="r" b="b" t="t" l="l"/>
              <a:pathLst>
                <a:path h="317082" w="2071825">
                  <a:moveTo>
                    <a:pt x="27411" y="0"/>
                  </a:moveTo>
                  <a:lnTo>
                    <a:pt x="2044414" y="0"/>
                  </a:lnTo>
                  <a:cubicBezTo>
                    <a:pt x="2059552" y="0"/>
                    <a:pt x="2071825" y="12272"/>
                    <a:pt x="2071825" y="27411"/>
                  </a:cubicBezTo>
                  <a:lnTo>
                    <a:pt x="2071825" y="289671"/>
                  </a:lnTo>
                  <a:cubicBezTo>
                    <a:pt x="2071825" y="304810"/>
                    <a:pt x="2059552" y="317082"/>
                    <a:pt x="2044414" y="317082"/>
                  </a:cubicBezTo>
                  <a:lnTo>
                    <a:pt x="27411" y="317082"/>
                  </a:lnTo>
                  <a:cubicBezTo>
                    <a:pt x="12272" y="317082"/>
                    <a:pt x="0" y="304810"/>
                    <a:pt x="0" y="289671"/>
                  </a:cubicBezTo>
                  <a:lnTo>
                    <a:pt x="0" y="27411"/>
                  </a:lnTo>
                  <a:cubicBezTo>
                    <a:pt x="0" y="12272"/>
                    <a:pt x="12272" y="0"/>
                    <a:pt x="27411" y="0"/>
                  </a:cubicBezTo>
                  <a:close/>
                </a:path>
              </a:pathLst>
            </a:custGeom>
            <a:solidFill>
              <a:srgbClr val="FFB54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071825" cy="3361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9"/>
                </a:lnSpc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Comment anticiper la réussite financière d’une startup pharmaceutique, tout en s’assurant qu’elle agit de manière éthique, afin d’optimiser les décisions d’allocation de capital ?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430787" y="6069293"/>
            <a:ext cx="11426426" cy="2179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199" b="true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Obj : </a:t>
            </a: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Optimiser les décisions d’investissement en intégrant ces deux dimensions</a:t>
            </a:r>
          </a:p>
          <a:p>
            <a:pPr algn="l">
              <a:lnSpc>
                <a:spcPts val="2881"/>
              </a:lnSpc>
            </a:pPr>
          </a:p>
          <a:p>
            <a:pPr algn="l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Modèle de machine learning entraîné sur les données financières historiques </a:t>
            </a:r>
          </a:p>
          <a:p>
            <a:pPr algn="l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Analyse automatique de l’éthique via ESG-BERT</a:t>
            </a:r>
          </a:p>
          <a:p>
            <a:pPr algn="l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⟶ Combinés en un unique score final pour guider les décisions d’investissement</a:t>
            </a:r>
          </a:p>
          <a:p>
            <a:pPr algn="l">
              <a:lnSpc>
                <a:spcPts val="2881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15937" y="1255979"/>
            <a:ext cx="949220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05934" y="1840568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027843" y="8229600"/>
            <a:ext cx="2059114" cy="4114800"/>
          </a:xfrm>
          <a:custGeom>
            <a:avLst/>
            <a:gdLst/>
            <a:ahLst/>
            <a:cxnLst/>
            <a:rect r="r" b="b" t="t" l="l"/>
            <a:pathLst>
              <a:path h="4114800" w="2059114">
                <a:moveTo>
                  <a:pt x="0" y="0"/>
                </a:moveTo>
                <a:lnTo>
                  <a:pt x="2059114" y="0"/>
                </a:lnTo>
                <a:lnTo>
                  <a:pt x="20591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7259300" y="-1189185"/>
            <a:ext cx="2378369" cy="2378369"/>
          </a:xfrm>
          <a:custGeom>
            <a:avLst/>
            <a:gdLst/>
            <a:ahLst/>
            <a:cxnLst/>
            <a:rect r="r" b="b" t="t" l="l"/>
            <a:pathLst>
              <a:path h="2378369" w="2378369">
                <a:moveTo>
                  <a:pt x="0" y="0"/>
                </a:moveTo>
                <a:lnTo>
                  <a:pt x="2378369" y="0"/>
                </a:lnTo>
                <a:lnTo>
                  <a:pt x="2378369" y="2378370"/>
                </a:lnTo>
                <a:lnTo>
                  <a:pt x="0" y="23783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664024" y="6107393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789139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Analyse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22303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Code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55467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Contexte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5934" y="1767104"/>
            <a:ext cx="10862746" cy="98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8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Les données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5934" y="3812200"/>
            <a:ext cx="17004885" cy="4350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199" b="true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de capital-risque (54 294 startups) </a:t>
            </a: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classées par :</a:t>
            </a:r>
          </a:p>
          <a:p>
            <a:pPr algn="l" marL="474979" indent="-237490" lvl="1">
              <a:lnSpc>
                <a:spcPts val="2881"/>
              </a:lnSpc>
              <a:buFont typeface="Arial"/>
              <a:buChar char="•"/>
            </a:pP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Pays, Secteur, Statut actuel, Montants levés, Nombre de tours de financement, Dates clés de son développement</a:t>
            </a:r>
          </a:p>
          <a:p>
            <a:pPr algn="l" marL="474979" indent="-237490" lvl="1">
              <a:lnSpc>
                <a:spcPts val="2881"/>
              </a:lnSpc>
              <a:buFont typeface="Arial"/>
              <a:buChar char="•"/>
            </a:pP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Sélection du secteur pharma et biotech </a:t>
            </a:r>
            <a:r>
              <a:rPr lang="en-US" b="true" sz="2199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(4 207 startups)</a:t>
            </a:r>
          </a:p>
          <a:p>
            <a:pPr algn="l" marL="474979" indent="-237490" lvl="1">
              <a:lnSpc>
                <a:spcPts val="2881"/>
              </a:lnSpc>
              <a:buFont typeface="Arial"/>
              <a:buChar char="•"/>
            </a:pP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Résultat final connu (Acquired - succès - ou Closed - échec)</a:t>
            </a:r>
          </a:p>
          <a:p>
            <a:pPr algn="l">
              <a:lnSpc>
                <a:spcPts val="2881"/>
              </a:lnSpc>
            </a:pPr>
          </a:p>
          <a:p>
            <a:pPr algn="l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Question de qualité de la donnée (108 startups “</a:t>
            </a:r>
            <a:r>
              <a:rPr lang="en-US" sz="2199" i="true">
                <a:solidFill>
                  <a:srgbClr val="54545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operating”)</a:t>
            </a:r>
          </a:p>
          <a:p>
            <a:pPr algn="l">
              <a:lnSpc>
                <a:spcPts val="2881"/>
              </a:lnSpc>
            </a:pPr>
          </a:p>
          <a:p>
            <a:pPr algn="l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⟶ </a:t>
            </a:r>
            <a:r>
              <a:rPr lang="en-US" sz="2199" b="true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d’entraînement final (480 startups / 333 succès, 147 échecs)</a:t>
            </a:r>
          </a:p>
          <a:p>
            <a:pPr algn="l">
              <a:lnSpc>
                <a:spcPts val="2881"/>
              </a:lnSpc>
            </a:pPr>
          </a:p>
          <a:p>
            <a:pPr algn="l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Date de coupure : 01/01/2012</a:t>
            </a:r>
          </a:p>
          <a:p>
            <a:pPr algn="l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Apprentissage sur les startups fondées avant 2012 et prédiction sur celles futures (prévoir le data leakage)</a:t>
            </a:r>
          </a:p>
          <a:p>
            <a:pPr algn="l">
              <a:lnSpc>
                <a:spcPts val="2881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15937" y="1255979"/>
            <a:ext cx="949220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05934" y="1840568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027843" y="8229600"/>
            <a:ext cx="2059114" cy="4114800"/>
          </a:xfrm>
          <a:custGeom>
            <a:avLst/>
            <a:gdLst/>
            <a:ahLst/>
            <a:cxnLst/>
            <a:rect r="r" b="b" t="t" l="l"/>
            <a:pathLst>
              <a:path h="4114800" w="2059114">
                <a:moveTo>
                  <a:pt x="0" y="0"/>
                </a:moveTo>
                <a:lnTo>
                  <a:pt x="2059114" y="0"/>
                </a:lnTo>
                <a:lnTo>
                  <a:pt x="20591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7259300" y="-1189185"/>
            <a:ext cx="2378369" cy="2378369"/>
          </a:xfrm>
          <a:custGeom>
            <a:avLst/>
            <a:gdLst/>
            <a:ahLst/>
            <a:cxnLst/>
            <a:rect r="r" b="b" t="t" l="l"/>
            <a:pathLst>
              <a:path h="2378369" w="2378369">
                <a:moveTo>
                  <a:pt x="0" y="0"/>
                </a:moveTo>
                <a:lnTo>
                  <a:pt x="2378369" y="0"/>
                </a:lnTo>
                <a:lnTo>
                  <a:pt x="2378369" y="2378370"/>
                </a:lnTo>
                <a:lnTo>
                  <a:pt x="0" y="23783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664024" y="6107393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789139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Analyse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22303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Code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55467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Contexte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5934" y="1767104"/>
            <a:ext cx="10862746" cy="98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8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Les données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506813" y="1715859"/>
            <a:ext cx="5701141" cy="3950705"/>
          </a:xfrm>
          <a:custGeom>
            <a:avLst/>
            <a:gdLst/>
            <a:ahLst/>
            <a:cxnLst/>
            <a:rect r="r" b="b" t="t" l="l"/>
            <a:pathLst>
              <a:path h="3950705" w="5701141">
                <a:moveTo>
                  <a:pt x="0" y="0"/>
                </a:moveTo>
                <a:lnTo>
                  <a:pt x="5701141" y="0"/>
                </a:lnTo>
                <a:lnTo>
                  <a:pt x="5701141" y="3950704"/>
                </a:lnTo>
                <a:lnTo>
                  <a:pt x="0" y="39507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071631" y="6256363"/>
            <a:ext cx="11301259" cy="3559897"/>
          </a:xfrm>
          <a:custGeom>
            <a:avLst/>
            <a:gdLst/>
            <a:ahLst/>
            <a:cxnLst/>
            <a:rect r="r" b="b" t="t" l="l"/>
            <a:pathLst>
              <a:path h="3559897" w="11301259">
                <a:moveTo>
                  <a:pt x="0" y="0"/>
                </a:moveTo>
                <a:lnTo>
                  <a:pt x="11301259" y="0"/>
                </a:lnTo>
                <a:lnTo>
                  <a:pt x="11301259" y="3559896"/>
                </a:lnTo>
                <a:lnTo>
                  <a:pt x="0" y="35598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05934" y="3216535"/>
            <a:ext cx="9295996" cy="2541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199" b="true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Distribution du financement : </a:t>
            </a:r>
          </a:p>
          <a:p>
            <a:pPr algn="l" marL="474979" indent="-237490" lvl="1">
              <a:lnSpc>
                <a:spcPts val="2881"/>
              </a:lnSpc>
              <a:buFont typeface="Arial"/>
              <a:buChar char="•"/>
            </a:pP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Levé de fonds très asymétrique</a:t>
            </a:r>
          </a:p>
          <a:p>
            <a:pPr algn="l" marL="474979" indent="-237490" lvl="1">
              <a:lnSpc>
                <a:spcPts val="2881"/>
              </a:lnSpc>
              <a:buFont typeface="Arial"/>
              <a:buChar char="•"/>
            </a:pP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Médiane basse avec quelques levés de fonds de milliards</a:t>
            </a:r>
          </a:p>
          <a:p>
            <a:pPr algn="l" marL="474979" indent="-237490" lvl="1">
              <a:lnSpc>
                <a:spcPts val="2881"/>
              </a:lnSpc>
              <a:buFont typeface="Arial"/>
              <a:buChar char="•"/>
            </a:pP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Transformation logarithmique pour mieux visualiser la structure générale de la distribution</a:t>
            </a:r>
          </a:p>
          <a:p>
            <a:pPr algn="l" marL="474979" indent="-237490" lvl="1">
              <a:lnSpc>
                <a:spcPts val="2881"/>
              </a:lnSpc>
              <a:buFont typeface="Arial"/>
              <a:buChar char="•"/>
            </a:pP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Startups à succès ⟶ Financements importants et réguliers</a:t>
            </a:r>
          </a:p>
          <a:p>
            <a:pPr algn="l">
              <a:lnSpc>
                <a:spcPts val="2881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58670" y="873455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3"/>
                </a:lnTo>
                <a:lnTo>
                  <a:pt x="0" y="7417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95828" y="1955873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12511987" y="1255979"/>
            <a:ext cx="1690792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2593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9258300"/>
            <a:ext cx="2378369" cy="2378369"/>
          </a:xfrm>
          <a:custGeom>
            <a:avLst/>
            <a:gdLst/>
            <a:ahLst/>
            <a:cxnLst/>
            <a:rect r="r" b="b" t="t" l="l"/>
            <a:pathLst>
              <a:path h="2378369" w="2378369">
                <a:moveTo>
                  <a:pt x="0" y="0"/>
                </a:moveTo>
                <a:lnTo>
                  <a:pt x="2378369" y="0"/>
                </a:lnTo>
                <a:lnTo>
                  <a:pt x="2378369" y="2378369"/>
                </a:lnTo>
                <a:lnTo>
                  <a:pt x="0" y="23783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55157" y="4734550"/>
            <a:ext cx="17000619" cy="103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76"/>
              </a:lnSpc>
            </a:pPr>
            <a:r>
              <a:rPr lang="en-US" sz="82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Modèle de prévisions financières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789139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Analyse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22303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55467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Contexte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2882773" y="1305587"/>
            <a:ext cx="949220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05934" y="1840568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027843" y="8229600"/>
            <a:ext cx="2059114" cy="4114800"/>
          </a:xfrm>
          <a:custGeom>
            <a:avLst/>
            <a:gdLst/>
            <a:ahLst/>
            <a:cxnLst/>
            <a:rect r="r" b="b" t="t" l="l"/>
            <a:pathLst>
              <a:path h="4114800" w="2059114">
                <a:moveTo>
                  <a:pt x="0" y="0"/>
                </a:moveTo>
                <a:lnTo>
                  <a:pt x="2059114" y="0"/>
                </a:lnTo>
                <a:lnTo>
                  <a:pt x="20591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7259300" y="-1189185"/>
            <a:ext cx="2378369" cy="2378369"/>
          </a:xfrm>
          <a:custGeom>
            <a:avLst/>
            <a:gdLst/>
            <a:ahLst/>
            <a:cxnLst/>
            <a:rect r="r" b="b" t="t" l="l"/>
            <a:pathLst>
              <a:path h="2378369" w="2378369">
                <a:moveTo>
                  <a:pt x="0" y="0"/>
                </a:moveTo>
                <a:lnTo>
                  <a:pt x="2378369" y="0"/>
                </a:lnTo>
                <a:lnTo>
                  <a:pt x="2378369" y="2378370"/>
                </a:lnTo>
                <a:lnTo>
                  <a:pt x="0" y="23783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789139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Analyse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22303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Code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55467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Contexte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4607" y="3784473"/>
            <a:ext cx="7279059" cy="552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</a:p>
          <a:p>
            <a:pPr algn="l" marL="431801" indent="-215900" lvl="1">
              <a:lnSpc>
                <a:spcPts val="2620"/>
              </a:lnSpc>
              <a:buFont typeface="Arial"/>
              <a:buChar char="•"/>
            </a:pPr>
            <a:r>
              <a:rPr lang="en-US" sz="20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funding_velocity : combien la startup lève par an </a:t>
            </a:r>
          </a:p>
          <a:p>
            <a:pPr algn="l">
              <a:lnSpc>
                <a:spcPts val="2620"/>
              </a:lnSpc>
            </a:pPr>
            <a:r>
              <a:rPr lang="en-US" sz="20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→</a:t>
            </a:r>
            <a:r>
              <a:rPr lang="en-US" sz="20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une startup qui lève vite est un bon signal</a:t>
            </a:r>
          </a:p>
          <a:p>
            <a:pPr algn="l">
              <a:lnSpc>
                <a:spcPts val="2620"/>
              </a:lnSpc>
            </a:pPr>
          </a:p>
          <a:p>
            <a:pPr algn="l" marL="431801" indent="-215900" lvl="1">
              <a:lnSpc>
                <a:spcPts val="2620"/>
              </a:lnSpc>
              <a:buFont typeface="Arial"/>
              <a:buChar char="•"/>
            </a:pPr>
            <a:r>
              <a:rPr lang="en-US" sz="20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round_intensity : combien de tours de financement par an</a:t>
            </a:r>
          </a:p>
          <a:p>
            <a:pPr algn="l">
              <a:lnSpc>
                <a:spcPts val="2620"/>
              </a:lnSpc>
            </a:pPr>
            <a:r>
              <a:rPr lang="en-US" sz="20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→ </a:t>
            </a:r>
            <a:r>
              <a:rPr lang="en-US" sz="20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régularité à attirer des investisseurs</a:t>
            </a:r>
          </a:p>
          <a:p>
            <a:pPr algn="l">
              <a:lnSpc>
                <a:spcPts val="2620"/>
              </a:lnSpc>
            </a:pPr>
          </a:p>
          <a:p>
            <a:pPr algn="l" marL="431801" indent="-215900" lvl="1">
              <a:lnSpc>
                <a:spcPts val="2620"/>
              </a:lnSpc>
              <a:buFont typeface="Arial"/>
              <a:buChar char="•"/>
            </a:pPr>
            <a:r>
              <a:rPr lang="en-US" sz="20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days_to_first_funding : délai entre la fondation et le premier financement </a:t>
            </a:r>
          </a:p>
          <a:p>
            <a:pPr algn="l">
              <a:lnSpc>
                <a:spcPts val="2620"/>
              </a:lnSpc>
            </a:pPr>
            <a:r>
              <a:rPr lang="en-US" sz="20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→ </a:t>
            </a:r>
            <a:r>
              <a:rPr lang="en-US" sz="20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un délai court signale une reconnaissance rapide par le marché</a:t>
            </a:r>
          </a:p>
          <a:p>
            <a:pPr algn="l">
              <a:lnSpc>
                <a:spcPts val="2620"/>
              </a:lnSpc>
            </a:pPr>
          </a:p>
          <a:p>
            <a:pPr algn="l" marL="431801" indent="-215900" lvl="1">
              <a:lnSpc>
                <a:spcPts val="2620"/>
              </a:lnSpc>
              <a:buFont typeface="Arial"/>
              <a:buChar char="•"/>
            </a:pPr>
            <a:r>
              <a:rPr lang="en-US" sz="20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Des variables binaires :</a:t>
            </a:r>
          </a:p>
          <a:p>
            <a:pPr algn="l">
              <a:lnSpc>
                <a:spcPts val="2620"/>
              </a:lnSpc>
            </a:pPr>
            <a:r>
              <a:rPr lang="en-US" sz="20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Has_seed, Has_venture, Has_grant, Has_round_A, Has_round_B</a:t>
            </a:r>
          </a:p>
          <a:p>
            <a:pPr algn="l">
              <a:lnSpc>
                <a:spcPts val="2620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664024" y="6107393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05934" y="1767104"/>
            <a:ext cx="10862746" cy="98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8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Modèle financier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823666" y="4616715"/>
            <a:ext cx="10189820" cy="5432804"/>
          </a:xfrm>
          <a:custGeom>
            <a:avLst/>
            <a:gdLst/>
            <a:ahLst/>
            <a:cxnLst/>
            <a:rect r="r" b="b" t="t" l="l"/>
            <a:pathLst>
              <a:path h="5432804" w="10189820">
                <a:moveTo>
                  <a:pt x="0" y="0"/>
                </a:moveTo>
                <a:lnTo>
                  <a:pt x="10189820" y="0"/>
                </a:lnTo>
                <a:lnTo>
                  <a:pt x="10189820" y="5432804"/>
                </a:lnTo>
                <a:lnTo>
                  <a:pt x="0" y="5432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05434" y="3209798"/>
            <a:ext cx="5618731" cy="62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0"/>
              </a:lnSpc>
            </a:pPr>
            <a:r>
              <a:rPr lang="en-US" sz="50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Variables clées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760480" y="1973918"/>
            <a:ext cx="2831984" cy="62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0"/>
              </a:lnSpc>
            </a:pPr>
            <a:r>
              <a:rPr lang="en-US" sz="50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Stacking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24573" y="2860341"/>
            <a:ext cx="7103799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class_weight='balanced' 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→ le modèle pénalise autant une erreur sur un échec que sur un succès, indépendamment de leur fréquence dans le dataset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17276" y="5597059"/>
            <a:ext cx="1104525" cy="234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9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BASELINE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2882773" y="1305587"/>
            <a:ext cx="949220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05934" y="1840568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027843" y="8229600"/>
            <a:ext cx="2059114" cy="4114800"/>
          </a:xfrm>
          <a:custGeom>
            <a:avLst/>
            <a:gdLst/>
            <a:ahLst/>
            <a:cxnLst/>
            <a:rect r="r" b="b" t="t" l="l"/>
            <a:pathLst>
              <a:path h="4114800" w="2059114">
                <a:moveTo>
                  <a:pt x="0" y="0"/>
                </a:moveTo>
                <a:lnTo>
                  <a:pt x="2059114" y="0"/>
                </a:lnTo>
                <a:lnTo>
                  <a:pt x="20591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7259300" y="-1189185"/>
            <a:ext cx="2378369" cy="2378369"/>
          </a:xfrm>
          <a:custGeom>
            <a:avLst/>
            <a:gdLst/>
            <a:ahLst/>
            <a:cxnLst/>
            <a:rect r="r" b="b" t="t" l="l"/>
            <a:pathLst>
              <a:path h="2378369" w="2378369">
                <a:moveTo>
                  <a:pt x="0" y="0"/>
                </a:moveTo>
                <a:lnTo>
                  <a:pt x="2378369" y="0"/>
                </a:lnTo>
                <a:lnTo>
                  <a:pt x="2378369" y="2378370"/>
                </a:lnTo>
                <a:lnTo>
                  <a:pt x="0" y="23783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789139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Analyse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22303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Code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55467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Contexte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4607" y="2940983"/>
            <a:ext cx="7279059" cy="51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0"/>
              </a:lnSpc>
            </a:pPr>
            <a:r>
              <a:rPr lang="en-US" sz="30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s = 1.52 lr + 0.60 rf + 0.97 gb - 0.15 svm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664024" y="6107393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05934" y="1727947"/>
            <a:ext cx="10862746" cy="98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8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Paramètre Stacking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629056" y="4351316"/>
            <a:ext cx="10986492" cy="5134312"/>
          </a:xfrm>
          <a:custGeom>
            <a:avLst/>
            <a:gdLst/>
            <a:ahLst/>
            <a:cxnLst/>
            <a:rect r="r" b="b" t="t" l="l"/>
            <a:pathLst>
              <a:path h="5134312" w="10986492">
                <a:moveTo>
                  <a:pt x="0" y="0"/>
                </a:moveTo>
                <a:lnTo>
                  <a:pt x="10986493" y="0"/>
                </a:lnTo>
                <a:lnTo>
                  <a:pt x="10986493" y="5134312"/>
                </a:lnTo>
                <a:lnTo>
                  <a:pt x="0" y="51343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2882773" y="1305587"/>
            <a:ext cx="949220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05934" y="1840568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027843" y="8229600"/>
            <a:ext cx="2059114" cy="4114800"/>
          </a:xfrm>
          <a:custGeom>
            <a:avLst/>
            <a:gdLst/>
            <a:ahLst/>
            <a:cxnLst/>
            <a:rect r="r" b="b" t="t" l="l"/>
            <a:pathLst>
              <a:path h="4114800" w="2059114">
                <a:moveTo>
                  <a:pt x="0" y="0"/>
                </a:moveTo>
                <a:lnTo>
                  <a:pt x="2059114" y="0"/>
                </a:lnTo>
                <a:lnTo>
                  <a:pt x="20591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7259300" y="-1189185"/>
            <a:ext cx="2378369" cy="2378369"/>
          </a:xfrm>
          <a:custGeom>
            <a:avLst/>
            <a:gdLst/>
            <a:ahLst/>
            <a:cxnLst/>
            <a:rect r="r" b="b" t="t" l="l"/>
            <a:pathLst>
              <a:path h="2378369" w="2378369">
                <a:moveTo>
                  <a:pt x="0" y="0"/>
                </a:moveTo>
                <a:lnTo>
                  <a:pt x="2378369" y="0"/>
                </a:lnTo>
                <a:lnTo>
                  <a:pt x="2378369" y="2378370"/>
                </a:lnTo>
                <a:lnTo>
                  <a:pt x="0" y="23783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789139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Analyse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22303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Code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55467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Contexte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664024" y="6107393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96643" y="1671235"/>
            <a:ext cx="11016485" cy="98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8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Matrice de confusion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14284" y="3993587"/>
            <a:ext cx="5847775" cy="5264713"/>
          </a:xfrm>
          <a:custGeom>
            <a:avLst/>
            <a:gdLst/>
            <a:ahLst/>
            <a:cxnLst/>
            <a:rect r="r" b="b" t="t" l="l"/>
            <a:pathLst>
              <a:path h="5264713" w="5847775">
                <a:moveTo>
                  <a:pt x="0" y="0"/>
                </a:moveTo>
                <a:lnTo>
                  <a:pt x="5847776" y="0"/>
                </a:lnTo>
                <a:lnTo>
                  <a:pt x="5847776" y="5264713"/>
                </a:lnTo>
                <a:lnTo>
                  <a:pt x="0" y="52647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988890" y="4435227"/>
            <a:ext cx="10124089" cy="2190717"/>
          </a:xfrm>
          <a:custGeom>
            <a:avLst/>
            <a:gdLst/>
            <a:ahLst/>
            <a:cxnLst/>
            <a:rect r="r" b="b" t="t" l="l"/>
            <a:pathLst>
              <a:path h="2190717" w="10124089">
                <a:moveTo>
                  <a:pt x="0" y="0"/>
                </a:moveTo>
                <a:lnTo>
                  <a:pt x="10124088" y="0"/>
                </a:lnTo>
                <a:lnTo>
                  <a:pt x="10124088" y="2190717"/>
                </a:lnTo>
                <a:lnTo>
                  <a:pt x="0" y="21907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58670" y="873455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3"/>
                </a:lnTo>
                <a:lnTo>
                  <a:pt x="0" y="7417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95828" y="1955873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15178823" y="1305587"/>
            <a:ext cx="1690792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2593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9258300"/>
            <a:ext cx="2378369" cy="2378369"/>
          </a:xfrm>
          <a:custGeom>
            <a:avLst/>
            <a:gdLst/>
            <a:ahLst/>
            <a:cxnLst/>
            <a:rect r="r" b="b" t="t" l="l"/>
            <a:pathLst>
              <a:path h="2378369" w="2378369">
                <a:moveTo>
                  <a:pt x="0" y="0"/>
                </a:moveTo>
                <a:lnTo>
                  <a:pt x="2378369" y="0"/>
                </a:lnTo>
                <a:lnTo>
                  <a:pt x="2378369" y="2378369"/>
                </a:lnTo>
                <a:lnTo>
                  <a:pt x="0" y="23783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388353" y="4734550"/>
            <a:ext cx="5511294" cy="103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76"/>
              </a:lnSpc>
            </a:pPr>
            <a:r>
              <a:rPr lang="en-US" sz="82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Résultats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789139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Analyse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22303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55467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Contexte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58670" y="873455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3"/>
                </a:lnTo>
                <a:lnTo>
                  <a:pt x="0" y="7417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95828" y="1955873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15178823" y="1305587"/>
            <a:ext cx="1690792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2593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24306" y="9573630"/>
            <a:ext cx="2378369" cy="2378369"/>
          </a:xfrm>
          <a:custGeom>
            <a:avLst/>
            <a:gdLst/>
            <a:ahLst/>
            <a:cxnLst/>
            <a:rect r="r" b="b" t="t" l="l"/>
            <a:pathLst>
              <a:path h="2378369" w="2378369">
                <a:moveTo>
                  <a:pt x="0" y="0"/>
                </a:moveTo>
                <a:lnTo>
                  <a:pt x="2378369" y="0"/>
                </a:lnTo>
                <a:lnTo>
                  <a:pt x="2378369" y="2378370"/>
                </a:lnTo>
                <a:lnTo>
                  <a:pt x="0" y="23783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273152" y="1622283"/>
            <a:ext cx="6212838" cy="6130440"/>
          </a:xfrm>
          <a:custGeom>
            <a:avLst/>
            <a:gdLst/>
            <a:ahLst/>
            <a:cxnLst/>
            <a:rect r="r" b="b" t="t" l="l"/>
            <a:pathLst>
              <a:path h="6130440" w="6212838">
                <a:moveTo>
                  <a:pt x="0" y="0"/>
                </a:moveTo>
                <a:lnTo>
                  <a:pt x="6212839" y="0"/>
                </a:lnTo>
                <a:lnTo>
                  <a:pt x="6212839" y="6130440"/>
                </a:lnTo>
                <a:lnTo>
                  <a:pt x="0" y="61304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86307" y="1955873"/>
            <a:ext cx="8749857" cy="5517426"/>
          </a:xfrm>
          <a:custGeom>
            <a:avLst/>
            <a:gdLst/>
            <a:ahLst/>
            <a:cxnLst/>
            <a:rect r="r" b="b" t="t" l="l"/>
            <a:pathLst>
              <a:path h="5517426" w="8749857">
                <a:moveTo>
                  <a:pt x="0" y="0"/>
                </a:moveTo>
                <a:lnTo>
                  <a:pt x="8749858" y="0"/>
                </a:lnTo>
                <a:lnTo>
                  <a:pt x="8749858" y="5517426"/>
                </a:lnTo>
                <a:lnTo>
                  <a:pt x="0" y="551742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003645"/>
            <a:ext cx="7279059" cy="756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0"/>
              </a:lnSpc>
            </a:pPr>
            <a:r>
              <a:rPr lang="en-US" sz="60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Tri Financier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6307" y="7603648"/>
            <a:ext cx="7816857" cy="96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8"/>
              </a:lnSpc>
            </a:pPr>
            <a:r>
              <a:rPr lang="en-US" sz="2899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Filtrage Financier : 3 622 Startups évaluées</a:t>
            </a:r>
          </a:p>
          <a:p>
            <a:pPr algn="l">
              <a:lnSpc>
                <a:spcPts val="3798"/>
              </a:lnSpc>
            </a:pPr>
            <a:r>
              <a:rPr lang="en-US" sz="2899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IPO → Entreprises exclues (108)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789139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Analyse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22303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Code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55467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Contexte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71143" y="7705098"/>
            <a:ext cx="7816857" cy="9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8"/>
              </a:lnSpc>
            </a:pPr>
            <a:r>
              <a:rPr lang="en-US" sz="28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Seuil du Score Stacking → Probabilité de succès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93298" y="9182100"/>
            <a:ext cx="7663557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→ Sélection des </a:t>
            </a:r>
            <a:r>
              <a:rPr lang="en-US" b="true" sz="28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20 meilleures</a:t>
            </a:r>
            <a:r>
              <a:rPr lang="en-US" sz="28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 entreprises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04381" y="574134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30553" y="-1648048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3"/>
                </a:lnTo>
                <a:lnTo>
                  <a:pt x="0" y="7417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189185" y="9258300"/>
            <a:ext cx="2378369" cy="2378369"/>
          </a:xfrm>
          <a:custGeom>
            <a:avLst/>
            <a:gdLst/>
            <a:ahLst/>
            <a:cxnLst/>
            <a:rect r="r" b="b" t="t" l="l"/>
            <a:pathLst>
              <a:path h="2378369" w="2378369">
                <a:moveTo>
                  <a:pt x="0" y="0"/>
                </a:moveTo>
                <a:lnTo>
                  <a:pt x="2378370" y="0"/>
                </a:lnTo>
                <a:lnTo>
                  <a:pt x="2378370" y="2378369"/>
                </a:lnTo>
                <a:lnTo>
                  <a:pt x="0" y="23783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2593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V="true">
            <a:off x="15178823" y="1305587"/>
            <a:ext cx="1690792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5957120" y="3561479"/>
            <a:ext cx="12340405" cy="6725521"/>
          </a:xfrm>
          <a:custGeom>
            <a:avLst/>
            <a:gdLst/>
            <a:ahLst/>
            <a:cxnLst/>
            <a:rect r="r" b="b" t="t" l="l"/>
            <a:pathLst>
              <a:path h="6725521" w="12340405">
                <a:moveTo>
                  <a:pt x="0" y="0"/>
                </a:moveTo>
                <a:lnTo>
                  <a:pt x="12340405" y="0"/>
                </a:lnTo>
                <a:lnTo>
                  <a:pt x="12340405" y="6725521"/>
                </a:lnTo>
                <a:lnTo>
                  <a:pt x="0" y="67255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789139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Analyse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22303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55467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Contexte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4918" y="1353212"/>
            <a:ext cx="7414002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60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Pipeline d’Analyse Ethique (ESG-BERT)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3205" y="4881285"/>
            <a:ext cx="5223987" cy="738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9"/>
              </a:lnSpc>
            </a:pPr>
            <a:r>
              <a:rPr lang="en-US" sz="2228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ClinicalTrials, PubMed et les sites web des entreprises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3205" y="4225850"/>
            <a:ext cx="3367955" cy="44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563">
                <a:solidFill>
                  <a:srgbClr val="2E2E72"/>
                </a:solidFill>
                <a:latin typeface="Poppins"/>
                <a:ea typeface="Poppins"/>
                <a:cs typeface="Poppins"/>
                <a:sym typeface="Poppins"/>
              </a:rPr>
              <a:t>Données Textuelles :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3205" y="6815385"/>
            <a:ext cx="5223987" cy="738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9"/>
              </a:lnSpc>
            </a:pPr>
            <a:r>
              <a:rPr lang="en-US" sz="2228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Combinaison des 2 dimensions :</a:t>
            </a:r>
          </a:p>
          <a:p>
            <a:pPr algn="l">
              <a:lnSpc>
                <a:spcPts val="2919"/>
              </a:lnSpc>
            </a:pPr>
            <a:r>
              <a:rPr lang="en-US" sz="2228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70% Finance + 30% Ethique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3205" y="6159950"/>
            <a:ext cx="3367955" cy="44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563">
                <a:solidFill>
                  <a:srgbClr val="2E2E72"/>
                </a:solidFill>
                <a:latin typeface="Poppins"/>
                <a:ea typeface="Poppins"/>
                <a:cs typeface="Poppins"/>
                <a:sym typeface="Poppins"/>
              </a:rPr>
              <a:t>Score Final :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91613" y="4112333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3" y="0"/>
                </a:lnTo>
                <a:lnTo>
                  <a:pt x="7417733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95828" y="1955873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3850" y="765379"/>
            <a:ext cx="11211253" cy="8842876"/>
          </a:xfrm>
          <a:custGeom>
            <a:avLst/>
            <a:gdLst/>
            <a:ahLst/>
            <a:cxnLst/>
            <a:rect r="r" b="b" t="t" l="l"/>
            <a:pathLst>
              <a:path h="8842876" w="11211253">
                <a:moveTo>
                  <a:pt x="0" y="0"/>
                </a:moveTo>
                <a:lnTo>
                  <a:pt x="11211253" y="0"/>
                </a:lnTo>
                <a:lnTo>
                  <a:pt x="11211253" y="8842875"/>
                </a:lnTo>
                <a:lnTo>
                  <a:pt x="0" y="8842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V="true">
            <a:off x="15178823" y="1305587"/>
            <a:ext cx="1690792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504308" y="4142710"/>
            <a:ext cx="349026" cy="235157"/>
          </a:xfrm>
          <a:custGeom>
            <a:avLst/>
            <a:gdLst/>
            <a:ahLst/>
            <a:cxnLst/>
            <a:rect r="r" b="b" t="t" l="l"/>
            <a:pathLst>
              <a:path h="235157" w="349026">
                <a:moveTo>
                  <a:pt x="0" y="0"/>
                </a:moveTo>
                <a:lnTo>
                  <a:pt x="349027" y="0"/>
                </a:lnTo>
                <a:lnTo>
                  <a:pt x="349027" y="235156"/>
                </a:lnTo>
                <a:lnTo>
                  <a:pt x="0" y="2351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504308" y="4913076"/>
            <a:ext cx="349026" cy="235157"/>
          </a:xfrm>
          <a:custGeom>
            <a:avLst/>
            <a:gdLst/>
            <a:ahLst/>
            <a:cxnLst/>
            <a:rect r="r" b="b" t="t" l="l"/>
            <a:pathLst>
              <a:path h="235157" w="349026">
                <a:moveTo>
                  <a:pt x="0" y="0"/>
                </a:moveTo>
                <a:lnTo>
                  <a:pt x="349027" y="0"/>
                </a:lnTo>
                <a:lnTo>
                  <a:pt x="349027" y="235157"/>
                </a:lnTo>
                <a:lnTo>
                  <a:pt x="0" y="2351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504308" y="5713811"/>
            <a:ext cx="349026" cy="235157"/>
          </a:xfrm>
          <a:custGeom>
            <a:avLst/>
            <a:gdLst/>
            <a:ahLst/>
            <a:cxnLst/>
            <a:rect r="r" b="b" t="t" l="l"/>
            <a:pathLst>
              <a:path h="235157" w="349026">
                <a:moveTo>
                  <a:pt x="0" y="0"/>
                </a:moveTo>
                <a:lnTo>
                  <a:pt x="349027" y="0"/>
                </a:lnTo>
                <a:lnTo>
                  <a:pt x="349027" y="235157"/>
                </a:lnTo>
                <a:lnTo>
                  <a:pt x="0" y="2351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925628" y="2108273"/>
            <a:ext cx="5883718" cy="1375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0"/>
              </a:lnSpc>
            </a:pPr>
            <a:r>
              <a:rPr lang="en-US" sz="60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Résultat Final : </a:t>
            </a:r>
          </a:p>
          <a:p>
            <a:pPr algn="l">
              <a:lnSpc>
                <a:spcPts val="4920"/>
              </a:lnSpc>
            </a:pPr>
            <a:r>
              <a:rPr lang="en-US" sz="60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Top 20 Startups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789139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Analyse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22303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Code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77185" y="4074233"/>
            <a:ext cx="7139515" cy="35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Classement Final : 70% Finance + 30% Ethique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77185" y="4844599"/>
            <a:ext cx="7139515" cy="35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Taille Bulle = Score éthique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77185" y="5645334"/>
            <a:ext cx="7139515" cy="35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Couleur = Sentiment détecté dans les textes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04381" y="574134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30553" y="-1648048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3"/>
                </a:lnTo>
                <a:lnTo>
                  <a:pt x="0" y="7417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455467" y="1852558"/>
            <a:ext cx="8947802" cy="239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Impact de l’Ethique sur la Stratégie d’Investissement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686505" y="5727250"/>
            <a:ext cx="349026" cy="235157"/>
          </a:xfrm>
          <a:custGeom>
            <a:avLst/>
            <a:gdLst/>
            <a:ahLst/>
            <a:cxnLst/>
            <a:rect r="r" b="b" t="t" l="l"/>
            <a:pathLst>
              <a:path h="235157" w="349026">
                <a:moveTo>
                  <a:pt x="0" y="0"/>
                </a:moveTo>
                <a:lnTo>
                  <a:pt x="349026" y="0"/>
                </a:lnTo>
                <a:lnTo>
                  <a:pt x="349026" y="235156"/>
                </a:lnTo>
                <a:lnTo>
                  <a:pt x="0" y="2351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686505" y="6547156"/>
            <a:ext cx="349026" cy="235157"/>
          </a:xfrm>
          <a:custGeom>
            <a:avLst/>
            <a:gdLst/>
            <a:ahLst/>
            <a:cxnLst/>
            <a:rect r="r" b="b" t="t" l="l"/>
            <a:pathLst>
              <a:path h="235157" w="349026">
                <a:moveTo>
                  <a:pt x="0" y="0"/>
                </a:moveTo>
                <a:lnTo>
                  <a:pt x="349026" y="0"/>
                </a:lnTo>
                <a:lnTo>
                  <a:pt x="349026" y="235156"/>
                </a:lnTo>
                <a:lnTo>
                  <a:pt x="0" y="2351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686505" y="7367062"/>
            <a:ext cx="349026" cy="235157"/>
          </a:xfrm>
          <a:custGeom>
            <a:avLst/>
            <a:gdLst/>
            <a:ahLst/>
            <a:cxnLst/>
            <a:rect r="r" b="b" t="t" l="l"/>
            <a:pathLst>
              <a:path h="235157" w="349026">
                <a:moveTo>
                  <a:pt x="0" y="0"/>
                </a:moveTo>
                <a:lnTo>
                  <a:pt x="349026" y="0"/>
                </a:lnTo>
                <a:lnTo>
                  <a:pt x="349026" y="235156"/>
                </a:lnTo>
                <a:lnTo>
                  <a:pt x="0" y="2351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189185" y="9258300"/>
            <a:ext cx="2378369" cy="2378369"/>
          </a:xfrm>
          <a:custGeom>
            <a:avLst/>
            <a:gdLst/>
            <a:ahLst/>
            <a:cxnLst/>
            <a:rect r="r" b="b" t="t" l="l"/>
            <a:pathLst>
              <a:path h="2378369" w="2378369">
                <a:moveTo>
                  <a:pt x="0" y="0"/>
                </a:moveTo>
                <a:lnTo>
                  <a:pt x="2378370" y="0"/>
                </a:lnTo>
                <a:lnTo>
                  <a:pt x="2378370" y="2378369"/>
                </a:lnTo>
                <a:lnTo>
                  <a:pt x="0" y="23783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2593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15178823" y="1305587"/>
            <a:ext cx="1690792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202686" y="1055192"/>
            <a:ext cx="9283794" cy="7113707"/>
          </a:xfrm>
          <a:custGeom>
            <a:avLst/>
            <a:gdLst/>
            <a:ahLst/>
            <a:cxnLst/>
            <a:rect r="r" b="b" t="t" l="l"/>
            <a:pathLst>
              <a:path h="7113707" w="9283794">
                <a:moveTo>
                  <a:pt x="0" y="0"/>
                </a:moveTo>
                <a:lnTo>
                  <a:pt x="9283794" y="0"/>
                </a:lnTo>
                <a:lnTo>
                  <a:pt x="9283794" y="7113707"/>
                </a:lnTo>
                <a:lnTo>
                  <a:pt x="0" y="711370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789139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Analyse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22303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Code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55467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Contexte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59635" y="6461026"/>
            <a:ext cx="7928365" cy="369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La dimension éthique est un facteur puissant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59610" y="4881850"/>
            <a:ext cx="3022225" cy="386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2"/>
              </a:lnSpc>
            </a:pPr>
            <a:r>
              <a:rPr lang="en-US" sz="2299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Conclusion 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59381" y="5641120"/>
            <a:ext cx="7928365" cy="369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Bonus éthique : Classement boosté par la transparence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59635" y="7280932"/>
            <a:ext cx="7928365" cy="369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Sans filtre éthique = Investissement à haut risque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58670" y="873455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3"/>
                </a:lnTo>
                <a:lnTo>
                  <a:pt x="0" y="7417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95828" y="1955873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15178823" y="1305587"/>
            <a:ext cx="1690792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2593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9258300"/>
            <a:ext cx="2378369" cy="2378369"/>
          </a:xfrm>
          <a:custGeom>
            <a:avLst/>
            <a:gdLst/>
            <a:ahLst/>
            <a:cxnLst/>
            <a:rect r="r" b="b" t="t" l="l"/>
            <a:pathLst>
              <a:path h="2378369" w="2378369">
                <a:moveTo>
                  <a:pt x="0" y="0"/>
                </a:moveTo>
                <a:lnTo>
                  <a:pt x="2378369" y="0"/>
                </a:lnTo>
                <a:lnTo>
                  <a:pt x="2378369" y="2378369"/>
                </a:lnTo>
                <a:lnTo>
                  <a:pt x="0" y="23783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364266" y="2165423"/>
            <a:ext cx="7895034" cy="98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8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Industrialisation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713463"/>
            <a:ext cx="8114302" cy="4350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Interface de programmation qui expose nos modèles via des requêtes web.</a:t>
            </a:r>
          </a:p>
          <a:p>
            <a:pPr algn="just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Envoie les données d'une startup → reçoit un score en temps réel</a:t>
            </a:r>
          </a:p>
          <a:p>
            <a:pPr algn="just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3 routes :</a:t>
            </a:r>
          </a:p>
          <a:p>
            <a:pPr algn="just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- Score financier seul</a:t>
            </a:r>
          </a:p>
          <a:p>
            <a:pPr algn="just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- Score complet financier + éthique </a:t>
            </a:r>
          </a:p>
          <a:p>
            <a:pPr algn="just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- Route batch (jusqu'à 100 startups)</a:t>
            </a:r>
          </a:p>
          <a:p>
            <a:pPr algn="just">
              <a:lnSpc>
                <a:spcPts val="2881"/>
              </a:lnSpc>
            </a:pPr>
          </a:p>
          <a:p>
            <a:pPr algn="just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Artefacts chargés au démarrage :</a:t>
            </a:r>
          </a:p>
          <a:p>
            <a:pPr algn="l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stack_model.pkl · scaler_pipeline.pkl · feature_columns.pkl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789139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Analyse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22303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Code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55467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Contexte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63942" y="2584427"/>
            <a:ext cx="727905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499" b="true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Développement de 2 outils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658670" y="4953572"/>
            <a:ext cx="4600489" cy="2696343"/>
            <a:chOff x="0" y="0"/>
            <a:chExt cx="718016" cy="4208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8016" cy="420828"/>
            </a:xfrm>
            <a:custGeom>
              <a:avLst/>
              <a:gdLst/>
              <a:ahLst/>
              <a:cxnLst/>
              <a:rect r="r" b="b" t="t" l="l"/>
              <a:pathLst>
                <a:path h="420828" w="718016">
                  <a:moveTo>
                    <a:pt x="79094" y="0"/>
                  </a:moveTo>
                  <a:lnTo>
                    <a:pt x="638922" y="0"/>
                  </a:lnTo>
                  <a:cubicBezTo>
                    <a:pt x="682604" y="0"/>
                    <a:pt x="718016" y="35412"/>
                    <a:pt x="718016" y="79094"/>
                  </a:cubicBezTo>
                  <a:lnTo>
                    <a:pt x="718016" y="341735"/>
                  </a:lnTo>
                  <a:cubicBezTo>
                    <a:pt x="718016" y="385417"/>
                    <a:pt x="682604" y="420828"/>
                    <a:pt x="638922" y="420828"/>
                  </a:cubicBezTo>
                  <a:lnTo>
                    <a:pt x="79094" y="420828"/>
                  </a:lnTo>
                  <a:cubicBezTo>
                    <a:pt x="58117" y="420828"/>
                    <a:pt x="37999" y="412495"/>
                    <a:pt x="23166" y="397662"/>
                  </a:cubicBezTo>
                  <a:cubicBezTo>
                    <a:pt x="8333" y="382829"/>
                    <a:pt x="0" y="362712"/>
                    <a:pt x="0" y="341735"/>
                  </a:cubicBezTo>
                  <a:lnTo>
                    <a:pt x="0" y="79094"/>
                  </a:lnTo>
                  <a:cubicBezTo>
                    <a:pt x="0" y="35412"/>
                    <a:pt x="35412" y="0"/>
                    <a:pt x="79094" y="0"/>
                  </a:cubicBezTo>
                  <a:close/>
                </a:path>
              </a:pathLst>
            </a:custGeom>
            <a:solidFill>
              <a:srgbClr val="FFB54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718016" cy="439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18947" y="4532488"/>
            <a:ext cx="7279059" cy="4350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Interface visuelle :</a:t>
            </a:r>
          </a:p>
          <a:p>
            <a:pPr algn="ctr">
              <a:lnSpc>
                <a:spcPts val="2881"/>
              </a:lnSpc>
            </a:pPr>
            <a:r>
              <a:rPr lang="en-US" sz="2199" b="true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Formulaire</a:t>
            </a:r>
          </a:p>
          <a:p>
            <a:pPr algn="ctr">
              <a:lnSpc>
                <a:spcPts val="2881"/>
              </a:lnSpc>
            </a:pPr>
            <a:r>
              <a:rPr lang="en-US" sz="2199" b="true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↓</a:t>
            </a:r>
          </a:p>
          <a:p>
            <a:pPr algn="ctr">
              <a:lnSpc>
                <a:spcPts val="2881"/>
              </a:lnSpc>
            </a:pPr>
            <a:r>
              <a:rPr lang="en-US" sz="2199" b="true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 "Lancer la Prédiction" </a:t>
            </a:r>
          </a:p>
          <a:p>
            <a:pPr algn="ctr">
              <a:lnSpc>
                <a:spcPts val="2881"/>
              </a:lnSpc>
            </a:pPr>
            <a:r>
              <a:rPr lang="en-US" sz="2199" b="true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↓</a:t>
            </a:r>
          </a:p>
          <a:p>
            <a:pPr algn="ctr">
              <a:lnSpc>
                <a:spcPts val="2881"/>
              </a:lnSpc>
            </a:pPr>
            <a:r>
              <a:rPr lang="en-US" sz="2199" b="true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 Score </a:t>
            </a:r>
          </a:p>
          <a:p>
            <a:pPr algn="ctr">
              <a:lnSpc>
                <a:spcPts val="2881"/>
              </a:lnSpc>
            </a:pPr>
            <a:r>
              <a:rPr lang="en-US" sz="2199" b="true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↓</a:t>
            </a:r>
          </a:p>
          <a:p>
            <a:pPr algn="ctr">
              <a:lnSpc>
                <a:spcPts val="2881"/>
              </a:lnSpc>
            </a:pPr>
            <a:r>
              <a:rPr lang="en-US" sz="2199" b="true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 Jauges en temps réel</a:t>
            </a:r>
          </a:p>
          <a:p>
            <a:pPr algn="ctr">
              <a:lnSpc>
                <a:spcPts val="2881"/>
              </a:lnSpc>
            </a:pPr>
          </a:p>
          <a:p>
            <a:pPr algn="l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Large accessibilité :</a:t>
            </a:r>
          </a:p>
          <a:p>
            <a:pPr algn="l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Permet à un analyste non-technique d'utiliser notre modèle au quotidien.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18947" y="4044125"/>
            <a:ext cx="7123201" cy="40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3"/>
              </a:lnSpc>
            </a:pPr>
            <a:r>
              <a:rPr lang="en-US" sz="2399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Dashboard HTML/CSS/JavaScript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4044125"/>
            <a:ext cx="4284205" cy="40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43"/>
              </a:lnSpc>
            </a:pPr>
            <a:r>
              <a:rPr lang="en-US" sz="2399">
                <a:solidFill>
                  <a:srgbClr val="2E2E72"/>
                </a:solidFill>
                <a:latin typeface="Poppins"/>
                <a:ea typeface="Poppins"/>
                <a:cs typeface="Poppins"/>
                <a:sym typeface="Poppins"/>
              </a:rPr>
              <a:t>API FastAPI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58670" y="873455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3"/>
                </a:lnTo>
                <a:lnTo>
                  <a:pt x="0" y="7417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95828" y="1955873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15178823" y="1305587"/>
            <a:ext cx="1690792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2593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9258300"/>
            <a:ext cx="2378369" cy="2378369"/>
          </a:xfrm>
          <a:custGeom>
            <a:avLst/>
            <a:gdLst/>
            <a:ahLst/>
            <a:cxnLst/>
            <a:rect r="r" b="b" t="t" l="l"/>
            <a:pathLst>
              <a:path h="2378369" w="2378369">
                <a:moveTo>
                  <a:pt x="0" y="0"/>
                </a:moveTo>
                <a:lnTo>
                  <a:pt x="2378369" y="0"/>
                </a:lnTo>
                <a:lnTo>
                  <a:pt x="2378369" y="2378369"/>
                </a:lnTo>
                <a:lnTo>
                  <a:pt x="0" y="23783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658670" y="4953572"/>
            <a:ext cx="4600489" cy="2696343"/>
            <a:chOff x="0" y="0"/>
            <a:chExt cx="718016" cy="4208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8016" cy="420828"/>
            </a:xfrm>
            <a:custGeom>
              <a:avLst/>
              <a:gdLst/>
              <a:ahLst/>
              <a:cxnLst/>
              <a:rect r="r" b="b" t="t" l="l"/>
              <a:pathLst>
                <a:path h="420828" w="718016">
                  <a:moveTo>
                    <a:pt x="79094" y="0"/>
                  </a:moveTo>
                  <a:lnTo>
                    <a:pt x="638922" y="0"/>
                  </a:lnTo>
                  <a:cubicBezTo>
                    <a:pt x="682604" y="0"/>
                    <a:pt x="718016" y="35412"/>
                    <a:pt x="718016" y="79094"/>
                  </a:cubicBezTo>
                  <a:lnTo>
                    <a:pt x="718016" y="341735"/>
                  </a:lnTo>
                  <a:cubicBezTo>
                    <a:pt x="718016" y="385417"/>
                    <a:pt x="682604" y="420828"/>
                    <a:pt x="638922" y="420828"/>
                  </a:cubicBezTo>
                  <a:lnTo>
                    <a:pt x="79094" y="420828"/>
                  </a:lnTo>
                  <a:cubicBezTo>
                    <a:pt x="58117" y="420828"/>
                    <a:pt x="37999" y="412495"/>
                    <a:pt x="23166" y="397662"/>
                  </a:cubicBezTo>
                  <a:cubicBezTo>
                    <a:pt x="8333" y="382829"/>
                    <a:pt x="0" y="362712"/>
                    <a:pt x="0" y="341735"/>
                  </a:cubicBezTo>
                  <a:lnTo>
                    <a:pt x="0" y="79094"/>
                  </a:lnTo>
                  <a:cubicBezTo>
                    <a:pt x="0" y="35412"/>
                    <a:pt x="35412" y="0"/>
                    <a:pt x="79094" y="0"/>
                  </a:cubicBezTo>
                  <a:close/>
                </a:path>
              </a:pathLst>
            </a:custGeom>
            <a:solidFill>
              <a:srgbClr val="FFB54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718016" cy="439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8301" y="3326297"/>
            <a:ext cx="9144000" cy="5293164"/>
          </a:xfrm>
          <a:custGeom>
            <a:avLst/>
            <a:gdLst/>
            <a:ahLst/>
            <a:cxnLst/>
            <a:rect r="r" b="b" t="t" l="l"/>
            <a:pathLst>
              <a:path h="5293164" w="9144000">
                <a:moveTo>
                  <a:pt x="0" y="0"/>
                </a:moveTo>
                <a:lnTo>
                  <a:pt x="9144000" y="0"/>
                </a:lnTo>
                <a:lnTo>
                  <a:pt x="9144000" y="5293163"/>
                </a:lnTo>
                <a:lnTo>
                  <a:pt x="0" y="52931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10846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506903" y="3264133"/>
            <a:ext cx="8781097" cy="5417490"/>
          </a:xfrm>
          <a:custGeom>
            <a:avLst/>
            <a:gdLst/>
            <a:ahLst/>
            <a:cxnLst/>
            <a:rect r="r" b="b" t="t" l="l"/>
            <a:pathLst>
              <a:path h="5417490" w="8781097">
                <a:moveTo>
                  <a:pt x="0" y="0"/>
                </a:moveTo>
                <a:lnTo>
                  <a:pt x="8781097" y="0"/>
                </a:lnTo>
                <a:lnTo>
                  <a:pt x="8781097" y="5417490"/>
                </a:lnTo>
                <a:lnTo>
                  <a:pt x="0" y="541749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364266" y="2165423"/>
            <a:ext cx="7895034" cy="98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8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Industrialisation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789139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Analyse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22303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Code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55467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Contexte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2328884"/>
            <a:ext cx="7123201" cy="40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3"/>
              </a:lnSpc>
            </a:pPr>
            <a:r>
              <a:rPr lang="en-US" sz="2399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Dashboard HTML/CSS/JavaScript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58670" y="873455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3"/>
                </a:lnTo>
                <a:lnTo>
                  <a:pt x="0" y="7417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95828" y="1955873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15178823" y="1305587"/>
            <a:ext cx="1690792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2593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9258300"/>
            <a:ext cx="2378369" cy="2378369"/>
          </a:xfrm>
          <a:custGeom>
            <a:avLst/>
            <a:gdLst/>
            <a:ahLst/>
            <a:cxnLst/>
            <a:rect r="r" b="b" t="t" l="l"/>
            <a:pathLst>
              <a:path h="2378369" w="2378369">
                <a:moveTo>
                  <a:pt x="0" y="0"/>
                </a:moveTo>
                <a:lnTo>
                  <a:pt x="2378369" y="0"/>
                </a:lnTo>
                <a:lnTo>
                  <a:pt x="2378369" y="2378369"/>
                </a:lnTo>
                <a:lnTo>
                  <a:pt x="0" y="23783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82712" y="2314575"/>
            <a:ext cx="7279059" cy="2626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8"/>
              </a:lnSpc>
            </a:pPr>
            <a:r>
              <a:rPr lang="en-US" sz="7863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Limites Identifiées et Contraintes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789139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Analyse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22303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55467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Contexte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67520" y="6368646"/>
            <a:ext cx="4989230" cy="369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Taille réduite de l’échantillon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67520" y="7256931"/>
            <a:ext cx="5442152" cy="369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Analyse éthique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82396" y="8060147"/>
            <a:ext cx="5565677" cy="369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IPO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17128" y="6359121"/>
            <a:ext cx="591821" cy="487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2"/>
              </a:lnSpc>
            </a:pPr>
            <a:r>
              <a:rPr lang="en-US" sz="2894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a.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17128" y="7162397"/>
            <a:ext cx="591821" cy="487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2"/>
              </a:lnSpc>
            </a:pPr>
            <a:r>
              <a:rPr lang="en-US" sz="2894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b.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17128" y="7965672"/>
            <a:ext cx="591821" cy="487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2"/>
              </a:lnSpc>
            </a:pPr>
            <a:r>
              <a:rPr lang="en-US" sz="2894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c.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645183" y="3123715"/>
            <a:ext cx="6564595" cy="181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Cutoff 2012 → </a:t>
            </a:r>
            <a:r>
              <a:rPr lang="en-US" sz="2199" b="true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272 </a:t>
            </a: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startups entraînement</a:t>
            </a:r>
          </a:p>
          <a:p>
            <a:pPr algn="ctr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en-US" sz="2199" b="true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4 030 filtrées</a:t>
            </a: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→ statut tranché uniquement)</a:t>
            </a:r>
          </a:p>
          <a:p>
            <a:pPr algn="ctr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Cross-validation 5 folds : évaluation plus fiable</a:t>
            </a:r>
          </a:p>
          <a:p>
            <a:pPr algn="ctr">
              <a:lnSpc>
                <a:spcPts val="2881"/>
              </a:lnSpc>
            </a:pPr>
            <a:r>
              <a:rPr lang="en-US" sz="2199" b="true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2012</a:t>
            </a: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: absence thérapies géniques</a:t>
            </a:r>
          </a:p>
          <a:p>
            <a:pPr algn="ctr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et immunothérapie → biais possibles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15281" y="2131150"/>
            <a:ext cx="5424400" cy="83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4"/>
              </a:lnSpc>
            </a:pPr>
            <a:r>
              <a:rPr lang="en-US" sz="2499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Taille réduite de l'échantillon d'entraînement 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9292602" y="5229817"/>
            <a:ext cx="782484" cy="752163"/>
          </a:xfrm>
          <a:custGeom>
            <a:avLst/>
            <a:gdLst/>
            <a:ahLst/>
            <a:cxnLst/>
            <a:rect r="r" b="b" t="t" l="l"/>
            <a:pathLst>
              <a:path h="752163" w="782484">
                <a:moveTo>
                  <a:pt x="0" y="0"/>
                </a:moveTo>
                <a:lnTo>
                  <a:pt x="782484" y="0"/>
                </a:lnTo>
                <a:lnTo>
                  <a:pt x="782484" y="752163"/>
                </a:lnTo>
                <a:lnTo>
                  <a:pt x="0" y="7521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164325" y="5229817"/>
            <a:ext cx="766535" cy="752163"/>
          </a:xfrm>
          <a:custGeom>
            <a:avLst/>
            <a:gdLst/>
            <a:ahLst/>
            <a:cxnLst/>
            <a:rect r="r" b="b" t="t" l="l"/>
            <a:pathLst>
              <a:path h="752163" w="766535">
                <a:moveTo>
                  <a:pt x="0" y="0"/>
                </a:moveTo>
                <a:lnTo>
                  <a:pt x="766536" y="0"/>
                </a:lnTo>
                <a:lnTo>
                  <a:pt x="766536" y="752163"/>
                </a:lnTo>
                <a:lnTo>
                  <a:pt x="0" y="7521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435539" y="6254268"/>
            <a:ext cx="5279095" cy="3626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81"/>
              </a:lnSpc>
            </a:pPr>
            <a:r>
              <a:rPr lang="en-US" sz="2199" b="true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ESG-BERT</a:t>
            </a: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: top 20 scraping web + API + NLP</a:t>
            </a:r>
          </a:p>
          <a:p>
            <a:pPr algn="just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→ chronophage</a:t>
            </a:r>
          </a:p>
          <a:p>
            <a:pPr algn="just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Score nul par défaut pour </a:t>
            </a:r>
            <a:r>
              <a:rPr lang="en-US" sz="2199" b="true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3 602</a:t>
            </a: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startups</a:t>
            </a:r>
          </a:p>
          <a:p>
            <a:pPr algn="just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→ compensé par un score qualité données :</a:t>
            </a:r>
          </a:p>
          <a:p>
            <a:pPr algn="just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min(nb_sources / 30 · 1)</a:t>
            </a:r>
          </a:p>
          <a:p>
            <a:pPr algn="just">
              <a:lnSpc>
                <a:spcPts val="2881"/>
              </a:lnSpc>
            </a:pPr>
            <a:r>
              <a:rPr lang="en-US" sz="2199" b="true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Pondération réelle</a:t>
            </a:r>
            <a:r>
              <a:rPr lang="en-US" sz="21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: 70/30 ajusté qualité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616318" y="6073293"/>
            <a:ext cx="4434732" cy="3264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Dét</a:t>
            </a:r>
            <a:r>
              <a:rPr lang="en-US" sz="2199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ectées via post_ipo_equity / post_ipo_debt</a:t>
            </a:r>
          </a:p>
          <a:p>
            <a:pPr algn="l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→ sous-représentées dans le dataset 2012</a:t>
            </a:r>
          </a:p>
          <a:p>
            <a:pPr algn="l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Modèle prédit : acquisition vs fermeture</a:t>
            </a:r>
          </a:p>
          <a:p>
            <a:pPr algn="l">
              <a:lnSpc>
                <a:spcPts val="2881"/>
              </a:lnSpc>
            </a:pPr>
            <a:r>
              <a:rPr lang="en-US" sz="2199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F1 de </a:t>
            </a:r>
            <a:r>
              <a:rPr lang="en-US" sz="2199" b="true">
                <a:solidFill>
                  <a:srgbClr val="545454"/>
                </a:solidFill>
                <a:latin typeface="Poppins Bold"/>
                <a:ea typeface="Poppins Bold"/>
                <a:cs typeface="Poppins Bold"/>
                <a:sym typeface="Poppins Bold"/>
              </a:rPr>
              <a:t>80,5%</a:t>
            </a:r>
            <a:r>
              <a:rPr lang="en-US" sz="2199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solide mais trajectoire à 10 ans reste incertaine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39981" y="5559705"/>
            <a:ext cx="349586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74"/>
              </a:lnSpc>
            </a:pPr>
            <a:r>
              <a:rPr lang="en-US" sz="2499">
                <a:solidFill>
                  <a:srgbClr val="2E2E72"/>
                </a:solidFill>
                <a:latin typeface="Poppins"/>
                <a:ea typeface="Poppins"/>
                <a:cs typeface="Poppins"/>
                <a:sym typeface="Poppins"/>
              </a:rPr>
              <a:t>Analyse éthique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616318" y="5559705"/>
            <a:ext cx="461140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499">
                <a:solidFill>
                  <a:srgbClr val="FFB547"/>
                </a:solidFill>
                <a:latin typeface="Poppins Light"/>
                <a:ea typeface="Poppins Light"/>
                <a:cs typeface="Poppins Light"/>
                <a:sym typeface="Poppins Light"/>
              </a:rPr>
              <a:t>IPO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2103522" y="5177208"/>
            <a:ext cx="810853" cy="804772"/>
          </a:xfrm>
          <a:custGeom>
            <a:avLst/>
            <a:gdLst/>
            <a:ahLst/>
            <a:cxnLst/>
            <a:rect r="r" b="b" t="t" l="l"/>
            <a:pathLst>
              <a:path h="804772" w="810853">
                <a:moveTo>
                  <a:pt x="0" y="0"/>
                </a:moveTo>
                <a:lnTo>
                  <a:pt x="810853" y="0"/>
                </a:lnTo>
                <a:lnTo>
                  <a:pt x="810853" y="804772"/>
                </a:lnTo>
                <a:lnTo>
                  <a:pt x="0" y="8047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6" id="26"/>
          <p:cNvSpPr/>
          <p:nvPr/>
        </p:nvSpPr>
        <p:spPr>
          <a:xfrm flipV="true">
            <a:off x="13357383" y="7392154"/>
            <a:ext cx="0" cy="270676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V="true">
            <a:off x="13357383" y="5383691"/>
            <a:ext cx="0" cy="270676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8" id="28"/>
          <p:cNvSpPr/>
          <p:nvPr/>
        </p:nvSpPr>
        <p:spPr>
          <a:xfrm flipH="false" flipV="false" rot="0">
            <a:off x="10299305" y="2057400"/>
            <a:ext cx="670162" cy="686465"/>
          </a:xfrm>
          <a:custGeom>
            <a:avLst/>
            <a:gdLst/>
            <a:ahLst/>
            <a:cxnLst/>
            <a:rect r="r" b="b" t="t" l="l"/>
            <a:pathLst>
              <a:path h="686465" w="670162">
                <a:moveTo>
                  <a:pt x="0" y="0"/>
                </a:moveTo>
                <a:lnTo>
                  <a:pt x="670162" y="0"/>
                </a:lnTo>
                <a:lnTo>
                  <a:pt x="670162" y="686465"/>
                </a:lnTo>
                <a:lnTo>
                  <a:pt x="0" y="68646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7259300" y="5388030"/>
            <a:ext cx="791750" cy="752163"/>
          </a:xfrm>
          <a:custGeom>
            <a:avLst/>
            <a:gdLst/>
            <a:ahLst/>
            <a:cxnLst/>
            <a:rect r="r" b="b" t="t" l="l"/>
            <a:pathLst>
              <a:path h="752163" w="791750">
                <a:moveTo>
                  <a:pt x="0" y="0"/>
                </a:moveTo>
                <a:lnTo>
                  <a:pt x="791750" y="0"/>
                </a:lnTo>
                <a:lnTo>
                  <a:pt x="791750" y="752163"/>
                </a:lnTo>
                <a:lnTo>
                  <a:pt x="0" y="75216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04485" y="3843126"/>
            <a:ext cx="12587979" cy="227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11"/>
              </a:lnSpc>
            </a:pPr>
            <a:r>
              <a:rPr lang="en-US" sz="18062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Merci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04485" y="5612168"/>
            <a:ext cx="13112905" cy="1308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41"/>
              </a:lnSpc>
            </a:pPr>
            <a:r>
              <a:rPr lang="en-US" sz="10416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pour votre Attention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891968"/>
            <a:ext cx="3954563" cy="694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Data is not Code numbers, it's Code understanding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925628" y="4375028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37014" y="-741289"/>
            <a:ext cx="7417732" cy="7417732"/>
          </a:xfrm>
          <a:custGeom>
            <a:avLst/>
            <a:gdLst/>
            <a:ahLst/>
            <a:cxnLst/>
            <a:rect r="r" b="b" t="t" l="l"/>
            <a:pathLst>
              <a:path h="7417732" w="7417732">
                <a:moveTo>
                  <a:pt x="0" y="0"/>
                </a:moveTo>
                <a:lnTo>
                  <a:pt x="7417732" y="0"/>
                </a:lnTo>
                <a:lnTo>
                  <a:pt x="7417732" y="7417732"/>
                </a:lnTo>
                <a:lnTo>
                  <a:pt x="0" y="741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029557" y="0"/>
            <a:ext cx="2059114" cy="4114800"/>
          </a:xfrm>
          <a:custGeom>
            <a:avLst/>
            <a:gdLst/>
            <a:ahLst/>
            <a:cxnLst/>
            <a:rect r="r" b="b" t="t" l="l"/>
            <a:pathLst>
              <a:path h="4114800" w="2059114">
                <a:moveTo>
                  <a:pt x="0" y="0"/>
                </a:moveTo>
                <a:lnTo>
                  <a:pt x="2059114" y="0"/>
                </a:lnTo>
                <a:lnTo>
                  <a:pt x="20591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789139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Analyse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22303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55467" y="940130"/>
            <a:ext cx="2470161" cy="29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2400">
                <a:solidFill>
                  <a:srgbClr val="2E2E72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Contexte</a:t>
            </a:r>
          </a:p>
        </p:txBody>
      </p:sp>
      <p:sp>
        <p:nvSpPr>
          <p:cNvPr name="AutoShape 11" id="11"/>
          <p:cNvSpPr/>
          <p:nvPr/>
        </p:nvSpPr>
        <p:spPr>
          <a:xfrm>
            <a:off x="10206525" y="1305587"/>
            <a:ext cx="968045" cy="0"/>
          </a:xfrm>
          <a:prstGeom prst="line">
            <a:avLst/>
          </a:prstGeom>
          <a:ln cap="flat" w="38100">
            <a:solidFill>
              <a:srgbClr val="FFB5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7259300" y="822960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863509" y="8920436"/>
            <a:ext cx="4572401" cy="694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1"/>
              </a:lnSpc>
            </a:pPr>
            <a:r>
              <a:rPr lang="en-US" sz="21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Hajar BELGROUN, Mailis BRIENS, Audrey NOURRY, Nino TISSOT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DAHDdKrzy0A</dc:identifier>
  <dcterms:modified xsi:type="dcterms:W3CDTF">2011-08-01T06:04:30Z</dcterms:modified>
  <cp:revision>1</cp:revision>
  <dc:title>Projet_DATA_Eq12</dc:title>
</cp:coreProperties>
</file>